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F4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DocuPost — Contexte, Cibles &amp; Contraintes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CC"/>
                </a:solidFill>
              </a:rPr>
              <a:t>Connecter le livreur terrain, le superviseur et le SI en temps réel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EC5"/>
                </a:solidFill>
              </a:rPr>
              <a:t>DocuPost MVP  •  Confidentiel  •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097280"/>
            <a:ext cx="3840480" cy="530352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097280"/>
            <a:ext cx="54864" cy="5303520"/>
          </a:xfrm>
          <a:prstGeom prst="rect">
            <a:avLst/>
          </a:prstGeom>
          <a:solidFill>
            <a:srgbClr val="F4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20700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821F"/>
                </a:solidFill>
              </a:rPr>
              <a:t>📋  CONTEXTE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6002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CC"/>
                </a:solidFill>
              </a:rPr>
              <a:t>Problèmes identifiés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847088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Livreur hors SI dès le départ du dépôt → tournée sur papier
• Supervision uniquement par téléphone, aucune visibilité temps réel
• Preuves de livraison non disponibles immédiatement
• Motifs de non-livraison hétérogènes et inexploitables
• Double saisie manuelle dans les SI internes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657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CC"/>
                </a:solidFill>
              </a:rPr>
              <a:t>Objectifs du projet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93192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✅  Réintégrer le livreur dans le SI
✅  Pilotage proactif (risque détecté &lt; 15 min)
✅  Preuves numériques opposables &lt; 5 min
✅  Zéro double saisie inter-systèmes
✅  Sécurisation juridique des livraisons sensibles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78808" y="1097280"/>
            <a:ext cx="3840480" cy="530352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78808" y="1097280"/>
            <a:ext cx="54864" cy="5303520"/>
          </a:xfrm>
          <a:prstGeom prst="rect">
            <a:avLst/>
          </a:prstGeom>
          <a:solidFill>
            <a:srgbClr val="00B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15968" y="120700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CC"/>
                </a:solidFill>
              </a:rPr>
              <a:t>👥  UTILISATEURS CIBLES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15968" y="1645920"/>
            <a:ext cx="3566160" cy="107899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7408" y="170078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821F"/>
                </a:solidFill>
              </a:rPr>
              <a:t>🚚  Pierre — Livreur terrain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196596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80–120 colis/jour · Android
Besoin : liste claire, statut rapide, preuve sans friction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15968" y="2816352"/>
            <a:ext cx="3566160" cy="107899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07408" y="287121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821F"/>
                </a:solidFill>
              </a:rPr>
              <a:t>📊  M. Renaud — Resp. Exploitation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8" y="3136392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Pilote plusieurs tournées simultanément
Besoin : vue temps réel, alertes proactives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15968" y="3986784"/>
            <a:ext cx="3566160" cy="107899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07408" y="404164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821F"/>
                </a:solidFill>
              </a:rPr>
              <a:t>💼  Mme Dubois — DSI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8" y="4306824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Audits, litiges, engagements contractuels
Besoin : preuves opposables, SLA respectés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15968" y="5157216"/>
            <a:ext cx="3566160" cy="107899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07408" y="52120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821F"/>
                </a:solidFill>
              </a:rPr>
              <a:t>🔧  M. Garnier — Architecte SI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7408" y="5477256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Garant cohérence SI · Valide intégrations
Besoin : API REST, SSO, aucune modif OMS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74736" y="1097280"/>
            <a:ext cx="3840480" cy="530352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74736" y="1097280"/>
            <a:ext cx="54864" cy="53035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11896" y="120700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B59B6"/>
                </a:solidFill>
              </a:rPr>
              <a:t>⚙️  CONTRAINTES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11896" y="160934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CC"/>
                </a:solidFill>
              </a:rPr>
              <a:t>Stack technique imposée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1896" y="1837944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Java 21 / Spring Boot 4.0.3
React 19 / TypeScript 5.6
Docker / Kubernetes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1896" y="238658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CC"/>
                </a:solidFill>
              </a:rPr>
              <a:t>Plateforme mobile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1896" y="2615184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Android uniquement (MVP)
iOS → Release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11896" y="316382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CC"/>
                </a:solidFill>
              </a:rPr>
              <a:t>Sécurité &amp; Conformité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11896" y="3392424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OAuth2 / SSO Corporate obligatoire
RGPD : géolocalisation minimisée
TLS/HTTPS partout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11896" y="394106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CC"/>
                </a:solidFill>
              </a:rPr>
              <a:t>Intégration SI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11896" y="4169664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API REST OMS uniquement
Sans modifier le cœur OMS
CRM / ERP → Release 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11896" y="471830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CC"/>
                </a:solidFill>
              </a:rPr>
              <a:t>Environnements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11896" y="4946904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dev → recette → préprod → prod
(4 environnements imposés DSI)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F4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Chaîne de valeur — Agents 1/2 : Vision → Architecture → Backlog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CC"/>
                </a:solidFill>
              </a:rPr>
              <a:t>Sponsor · UX · Architecte Métier · Architecte Technique · Product Owner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EC5"/>
                </a:solidFill>
              </a:rPr>
              <a:t>DocuPost MVP  •  Confidentiel  •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097280"/>
            <a:ext cx="2249424" cy="530352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097280"/>
            <a:ext cx="2249424" cy="91440"/>
          </a:xfrm>
          <a:prstGeom prst="rect">
            <a:avLst/>
          </a:prstGeom>
          <a:solidFill>
            <a:srgbClr val="F4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225296"/>
            <a:ext cx="21122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600200"/>
            <a:ext cx="2112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4821F"/>
                </a:solidFill>
              </a:rPr>
              <a:t>SPONSOR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1965960"/>
            <a:ext cx="20665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0BEC5"/>
                </a:solidFill>
              </a:rPr>
              <a:t>RÔLE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176272"/>
            <a:ext cx="20665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Garant vision business, KPIs et périmètre MVP. Arbitre entre Core Domain et sous-domaines.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291840"/>
            <a:ext cx="2066544" cy="36576"/>
          </a:xfrm>
          <a:prstGeom prst="rect">
            <a:avLst/>
          </a:prstGeom>
          <a:solidFill>
            <a:srgbClr val="F4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" y="3383280"/>
            <a:ext cx="20665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0BEC5"/>
                </a:solidFill>
              </a:rPr>
              <a:t>INPUTS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" y="3602736"/>
            <a:ext cx="20665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Entretiens métier terrain
(Pierre, M. Renaud, Mme Dubois, M. Garnier)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526280"/>
            <a:ext cx="2066544" cy="36576"/>
          </a:xfrm>
          <a:prstGeom prst="rect">
            <a:avLst/>
          </a:prstGeom>
          <a:solidFill>
            <a:srgbClr val="F4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4617720"/>
            <a:ext cx="20665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0BEC5"/>
                </a:solidFill>
              </a:rPr>
              <a:t>OUTPUTS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" y="4837176"/>
            <a:ext cx="20665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vision-produit.md
kpis.md
perimetre-mvp.md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42032" y="1097280"/>
            <a:ext cx="2249424" cy="530352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42032" y="1097280"/>
            <a:ext cx="2249424" cy="91440"/>
          </a:xfrm>
          <a:prstGeom prst="rect">
            <a:avLst/>
          </a:prstGeom>
          <a:solidFill>
            <a:srgbClr val="00B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33472" y="1225296"/>
            <a:ext cx="21122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33472" y="1600200"/>
            <a:ext cx="2112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CC"/>
                </a:solidFill>
              </a:rPr>
              <a:t>UX DESIGNER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1965960"/>
            <a:ext cx="20665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0BEC5"/>
                </a:solidFill>
              </a:rPr>
              <a:t>RÔLE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2176272"/>
            <a:ext cx="20665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Conçoit l'expérience livreur et superviseur. Capture le langage terrain (Ubiquitous Language).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33472" y="3291840"/>
            <a:ext cx="2066544" cy="36576"/>
          </a:xfrm>
          <a:prstGeom prst="rect">
            <a:avLst/>
          </a:prstGeom>
          <a:solidFill>
            <a:srgbClr val="00B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3383280"/>
            <a:ext cx="20665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0BEC5"/>
                </a:solidFill>
              </a:rPr>
              <a:t>INPUTS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3602736"/>
            <a:ext cx="20665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Vision produit
Pain points entretiens
Parcours utilisateurs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33472" y="4526280"/>
            <a:ext cx="2066544" cy="36576"/>
          </a:xfrm>
          <a:prstGeom prst="rect">
            <a:avLst/>
          </a:prstGeom>
          <a:solidFill>
            <a:srgbClr val="00B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1760" y="4617720"/>
            <a:ext cx="20665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0BEC5"/>
                </a:solidFill>
              </a:rPr>
              <a:t>OUTPUTS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4837176"/>
            <a:ext cx="20665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personas.md
user-journeys.md
wireframes.md
design-system.md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01184" y="1097280"/>
            <a:ext cx="2249424" cy="530352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901184" y="1097280"/>
            <a:ext cx="2249424" cy="914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92624" y="1225296"/>
            <a:ext cx="21122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🗺️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92624" y="1600200"/>
            <a:ext cx="2112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B59B6"/>
                </a:solidFill>
              </a:rPr>
              <a:t>ARCHI. MÉTIER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10912" y="1965960"/>
            <a:ext cx="20665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0BEC5"/>
                </a:solidFill>
              </a:rPr>
              <a:t>RÔLE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10912" y="2176272"/>
            <a:ext cx="20665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Structure les domaines, entités et règles métier (DDD). Construit la capability map.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92624" y="3291840"/>
            <a:ext cx="2066544" cy="36576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10912" y="3383280"/>
            <a:ext cx="20665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0BEC5"/>
                </a:solidFill>
              </a:rPr>
              <a:t>INPUTS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10912" y="3602736"/>
            <a:ext cx="20665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Vision produit
User journeys UX
Language terrain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92624" y="4526280"/>
            <a:ext cx="2066544" cy="36576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10912" y="4617720"/>
            <a:ext cx="20665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0BEC5"/>
                </a:solidFill>
              </a:rPr>
              <a:t>OUTPUTS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10912" y="4837176"/>
            <a:ext cx="20665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domain-model.md
capability-map.md
modules-fonctionnels.md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60336" y="1097280"/>
            <a:ext cx="2249424" cy="530352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260336" y="1097280"/>
            <a:ext cx="2249424" cy="914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51776" y="1225296"/>
            <a:ext cx="21122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51776" y="1600200"/>
            <a:ext cx="2112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498DB"/>
                </a:solidFill>
              </a:rPr>
              <a:t>ARCHI. TECHNIQUE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70064" y="1965960"/>
            <a:ext cx="20665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0BEC5"/>
                </a:solidFill>
              </a:rPr>
              <a:t>RÔLE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70064" y="2176272"/>
            <a:ext cx="20665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Définit l'architecture applicative, les intégrations et choix technologiques (Bounded Contexts → services).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51776" y="3291840"/>
            <a:ext cx="2066544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70064" y="3383280"/>
            <a:ext cx="20665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0BEC5"/>
                </a:solidFill>
              </a:rPr>
              <a:t>INPUTS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70064" y="3602736"/>
            <a:ext cx="20665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UX + Archi Métier
Contraintes SI
(SSO, OMS, stack)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51776" y="4526280"/>
            <a:ext cx="2066544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70064" y="4617720"/>
            <a:ext cx="20665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0BEC5"/>
                </a:solidFill>
              </a:rPr>
              <a:t>OUTPUTS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70064" y="4837176"/>
            <a:ext cx="20665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architecture-applicative.md
schemas-integration.md
design-decisions.md
NFR.md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19488" y="1097280"/>
            <a:ext cx="2249424" cy="530352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619488" y="1097280"/>
            <a:ext cx="2249424" cy="914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710928" y="1225296"/>
            <a:ext cx="21122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10928" y="1600200"/>
            <a:ext cx="2112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39C12"/>
                </a:solidFill>
              </a:rPr>
              <a:t>PRODUCT OWNER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29216" y="1965960"/>
            <a:ext cx="20665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0BEC5"/>
                </a:solidFill>
              </a:rPr>
              <a:t>RÔLE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29216" y="2176272"/>
            <a:ext cx="20665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Transforme la vision en backlog structuré Epics / Features / User Stories (SAFe, MoSCoW).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710928" y="3291840"/>
            <a:ext cx="2066544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29216" y="3383280"/>
            <a:ext cx="20665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0BEC5"/>
                </a:solidFill>
              </a:rPr>
              <a:t>INPUTS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29216" y="3602736"/>
            <a:ext cx="20665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Vision + UX
Archi Métier
Glossaire domaine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710928" y="4526280"/>
            <a:ext cx="2066544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729216" y="4617720"/>
            <a:ext cx="20665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0BEC5"/>
                </a:solidFill>
              </a:rPr>
              <a:t>OUTPUTS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29216" y="4837176"/>
            <a:ext cx="20665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epics.md · features.md
US-[NNN]-[slug].md
definition-mvp.md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644652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B0BEC5"/>
                </a:solidFill>
              </a:rPr>
              <a:t>Sponsor  →  UX  ┐                                    ┌→  PO  →  Dev  →  QA  →  DevOps  →  End User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6601968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B0BEC5"/>
                </a:solidFill>
              </a:rPr>
              <a:t>                          └→  Archi Technique  ──────┘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F4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Chaîne de valeur — Agents 2/2 : Développement → Test →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CC"/>
                </a:solidFill>
              </a:rPr>
              <a:t>Développeur · QA · DevOps · End User  —  Boucle itérative par User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EC5"/>
                </a:solidFill>
              </a:rPr>
              <a:t>DocuPost MVP  •  Confidentiel  •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143000"/>
            <a:ext cx="2834640" cy="411480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143000"/>
            <a:ext cx="2834640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271016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673352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7AE60"/>
                </a:solidFill>
              </a:rPr>
              <a:t>DÉVELOPPEUR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05740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0BEC5"/>
                </a:solidFill>
              </a:rPr>
              <a:t>RÔLE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258568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Implémente 1 User Story de bout en bout (vertical slice) : backend Java + frontend React/Expo, avec tests unitaires.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" y="3246120"/>
            <a:ext cx="2615184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33756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0BEC5"/>
                </a:solidFill>
              </a:rPr>
              <a:t>INPUTS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538728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US-[NNN]-[slug].md
Wireframes UX
Architecture technique
NFR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" y="4343400"/>
            <a:ext cx="2615184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43484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0BEC5"/>
                </a:solidFill>
              </a:rPr>
              <a:t>OUTPUTS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636008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Code backend + frontend
US-[NNN]-impl.md
(commandes démarrage, URLs test)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45536" y="1143000"/>
            <a:ext cx="2834640" cy="411480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45536" y="1143000"/>
            <a:ext cx="2834640" cy="914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1271016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36976" y="1673352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74C3C"/>
                </a:solidFill>
              </a:rPr>
              <a:t>QA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82696" y="205740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0BEC5"/>
                </a:solidFill>
              </a:rPr>
              <a:t>RÔLE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82696" y="2258568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Définit et exécute la stratégie de tests (pyramide L1/L2/L3). Rédige scénarios Gherkin, exécute Playwright E2E.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55264" y="3246120"/>
            <a:ext cx="2615184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82696" y="333756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0BEC5"/>
                </a:solidFill>
              </a:rPr>
              <a:t>INPUTS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82696" y="3538728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US-[NNN]-[slug].md
US-[NNN]-impl.md
Exigences non fonctionnelles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55264" y="4343400"/>
            <a:ext cx="2615184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82696" y="443484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0BEC5"/>
                </a:solidFill>
              </a:rPr>
              <a:t>OUTPUTS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82696" y="4636008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plan-tests.md
US-[NNN]-scenarios.md
Rapport Playwright
Check-list tests manuels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08192" y="1143000"/>
            <a:ext cx="2834640" cy="411480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08192" y="1143000"/>
            <a:ext cx="2834640" cy="91440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99632" y="1271016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9632" y="1673352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07D8B"/>
                </a:solidFill>
              </a:rPr>
              <a:t>DEVOPS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5352" y="205740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0BEC5"/>
                </a:solidFill>
              </a:rPr>
              <a:t>RÔLE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5352" y="2258568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Conçoit pipeline CI/CD GitHub Actions, provisionne les environnements GCP Cloud Run, définit le monitoring.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3246120"/>
            <a:ext cx="2615184" cy="36576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45352" y="333756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0BEC5"/>
                </a:solidFill>
              </a:rPr>
              <a:t>INPUTS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5352" y="3538728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Architecture technique
Bounded Contexts
NFR (SLA, disponibilité)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4343400"/>
            <a:ext cx="2615184" cy="36576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45352" y="443484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0BEC5"/>
                </a:solidFill>
              </a:rPr>
              <a:t>OUTPUTS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45352" y="4636008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pipeline-cicd.md
strategie-deploiement.md
monitoring.md
cloudbuild.yaml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70848" y="1143000"/>
            <a:ext cx="2834640" cy="411480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70848" y="1143000"/>
            <a:ext cx="2834640" cy="91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62288" y="1271016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62288" y="1673352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67E22"/>
                </a:solidFill>
              </a:rPr>
              <a:t>END USER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08008" y="205740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0BEC5"/>
                </a:solidFill>
              </a:rPr>
              <a:t>RÔLE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08008" y="2258568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Joue le rôle livreur ou superviseur en conditions réelles. Valide ergonomie, détecte frictions et incohérences de langage.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80576" y="3246120"/>
            <a:ext cx="2615184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08008" y="333756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0BEC5"/>
                </a:solidFill>
              </a:rPr>
              <a:t>INPUTS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08008" y="3538728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Wireframes UX
US implémentée
Scénarios QA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80576" y="4343400"/>
            <a:ext cx="2615184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08008" y="443484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0BEC5"/>
                </a:solidFill>
              </a:rPr>
              <a:t>OUTPUTS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08008" y="4636008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feedback-[feature]-[date].md
→ Bloquants
→ Améliorations
→ Mineurs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2880" y="5376672"/>
            <a:ext cx="11823192" cy="1188720"/>
          </a:xfrm>
          <a:prstGeom prst="rect">
            <a:avLst/>
          </a:prstGeom>
          <a:solidFill>
            <a:srgbClr val="0D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82880" y="5376672"/>
            <a:ext cx="73152" cy="1188720"/>
          </a:xfrm>
          <a:prstGeom prst="rect">
            <a:avLst/>
          </a:prstGeom>
          <a:solidFill>
            <a:srgbClr val="00B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80" y="544982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CC"/>
                </a:solidFill>
              </a:rPr>
              <a:t>BOUCLE ITÉRATIVE PAR USER STORY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" y="5724144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PO définit l'US  →  Dev implémente  →  QA teste (Playwright)
  Si FAIL → retour Dev (corrections)       Si PASS → End User valide  →  PO crée la prochaine 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F4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Mocks &amp; Simulateurs — Infrastructure dev/test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CC"/>
                </a:solidFill>
              </a:rPr>
              <a:t>@Profile("dev") — Aucun simulateur actif en production  •  404 Not Found sur /dev/** en prod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EC5"/>
                </a:solidFill>
              </a:rPr>
              <a:t>DocuPost MVP  •  Confidentiel  •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143000"/>
            <a:ext cx="5303520" cy="534924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143000"/>
            <a:ext cx="64008" cy="5349240"/>
          </a:xfrm>
          <a:prstGeom prst="rect">
            <a:avLst/>
          </a:prstGeom>
          <a:solidFill>
            <a:srgbClr val="F4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234440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821F"/>
                </a:solidFill>
              </a:rPr>
              <a:t>MOCKS EN 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581912"/>
            <a:ext cx="5047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821F"/>
                </a:solidFill>
              </a:rPr>
              <a:t>[1] Simulateur TMS  —  POST /dev/tms/import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1801368"/>
            <a:ext cx="50474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Prob : en prod, les tournees viennent d'un logiciel TMS externe
       (non accessible en dev).
Mock : cet endpoint cree de fausses tournees directement en base
       (zones Lyon, 3-8 colis, contraintes horaires realistes).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2404872"/>
            <a:ext cx="5047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CC"/>
                </a:solidFill>
              </a:rPr>
              <a:t>[2] DevEventBridge  —  @Profile("dev")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624328"/>
            <a:ext cx="50474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Prob : en prod, les 3 services communiquent via Kafka.
       Kafka n'est pas deploye en dev/recette.
Mock : quand une tournee est lancee, ce composant appelle
       directement svc-tournee et svc-supervision par HTTP.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3227832"/>
            <a:ext cx="5047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98DB"/>
                </a:solidFill>
              </a:rPr>
              <a:t>[3] Endpoints Reset  —  DELETE &amp; POST /dev/tms/reset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3447288"/>
            <a:ext cx="50474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Prob : apres chaque campagne de tests Playwright, la base
       contient des residus qui faussent les tests suivants.
Mock : ces endpoints purgent toutes les donnees de test en
       une seule requete pour repartir d'un etat propre.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4050792"/>
            <a:ext cx="5047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[4] Reseed svc-tournee  —  POST /internal/dev/reseed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4270248"/>
            <a:ext cx="50474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Prob : le service livreur (svc-tournee) n'a aucune tournee
       a afficher apres un reset.
Mock : cet endpoint reinsere des tournees fictives avec des
       colis realistes pour que le livreur puisse tester.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4873752"/>
            <a:ext cx="5047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B6"/>
                </a:solidFill>
              </a:rPr>
              <a:t>[5] OMS simule  —  donnees fictives en 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5093208"/>
            <a:ext cx="50474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Prob : en prod, chaque livraison envoie un evenement au
       systeme OMS Docaposte (externe, inaccessible en dev).
Mock : les statuts colis sont stockes localement sans appel
       OMS reel. L'interface se comporte comme si tout partait.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5696712"/>
            <a:ext cx="5047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39C12"/>
                </a:solidFill>
              </a:rPr>
              <a:t>[6] Auth bypass  —  REACT_APP_AUTH_BYPASS=true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5916168"/>
            <a:ext cx="50474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Prob : en prod, la connexion passe par le SSO corporate
       Docaposte (inaccessible depuis le poste dev).
Mock : cette variable desactive le SSO et connecte l'utilisateur
       automatiquement pour tester sans compte SI reel.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1143000"/>
            <a:ext cx="6336792" cy="1371600"/>
          </a:xfrm>
          <a:prstGeom prst="rect">
            <a:avLst/>
          </a:prstGeom>
          <a:solidFill>
            <a:srgbClr val="2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0" y="1143000"/>
            <a:ext cx="6336792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06440" y="1234440"/>
            <a:ext cx="6153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74C3C"/>
                </a:solidFill>
              </a:rPr>
              <a:t>PROD — Flux réel (non disponible en dev)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1527048"/>
            <a:ext cx="6153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TMS externe  →  Kafka  →  BC-07 (import TourneePlanifiee)
                                   →  BC-01 (Tournee mobile)  +  BC-03 (VueTournee)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2606040"/>
            <a:ext cx="6153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4821F"/>
                </a:solidFill>
              </a:rPr>
              <a:t>▼  REMPLACÉ PAR LES SIMULATEURS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0" y="2953512"/>
            <a:ext cx="6336792" cy="3767328"/>
          </a:xfrm>
          <a:prstGeom prst="rect">
            <a:avLst/>
          </a:prstGeom>
          <a:solidFill>
            <a:srgbClr val="0D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0" y="2953512"/>
            <a:ext cx="6336792" cy="64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06440" y="3044952"/>
            <a:ext cx="6153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DEV / RECETTE — Flux simulé (@Profile("dev"))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3355848"/>
            <a:ext cx="615391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POST /dev/tms/import
         ↓
TourneePlanifiee créée (BC-07, svc-supervision)
         ↓
LancerTourneeHandler  +  DevEventBridge (HTTP, @Profile dev)
         ↓                              ↓
POST /internal/dev/tournees    VueTournee créée (BC-03)
Tournee créée (BC-01)          (idempotent)
         ↓
Livreur voit sa tournée        Superviseur voit le tableau de bord
(svc-tournee:8081)             (svc-supervision:8082)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0" y="5074920"/>
            <a:ext cx="6336792" cy="1417320"/>
          </a:xfrm>
          <a:prstGeom prst="rect">
            <a:avLst/>
          </a:prstGeom>
          <a:solidFill>
            <a:srgbClr val="28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0" y="5074920"/>
            <a:ext cx="6336792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06440" y="5166360"/>
            <a:ext cx="6153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74C3C"/>
                </a:solidFill>
              </a:rPr>
              <a:t>⚠️  RÈGLES DE SÉCURITÉ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5458968"/>
            <a:ext cx="6153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@Profile("dev") obligatoire sur TOUS les beans et endpoints de simulation
404 Not Found en prod sur tous les /dev/**  •  Aucun log de simulation en prod
Idempotence garantie sur tous les endpoints dev (double appel → 200 OK sans doublon)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