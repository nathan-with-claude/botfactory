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DocuPost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8C4E8"/>
                </a:solidFill>
                <a:latin typeface="Calibri"/>
              </a:rPr>
              <a:t>Plateforme de gestion de tournées de livraison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État des lieux MVP — Présentation CODIR DSI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Avril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394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8C4E8"/>
                </a:solidFill>
                <a:latin typeface="Calibri"/>
              </a:rPr>
              <a:t>CONFIDENTIEL — Usage interne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4E8"/>
                </a:solidFill>
                <a:latin typeface="Calibri"/>
              </a:rPr>
              <a:t>▸ Vision &amp; problématique
▸ Périmètre MVP &amp; avancement
▸ KPIs cibles
▸ Architecture &amp; stack
▸ Roadmap
▸ Annexes (métier &amp; technique)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Structure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02920" cy="38404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371600"/>
            <a:ext cx="10789920" cy="3840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422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Problématique &amp; contexte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4224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Rupture SI, pain points, opportunité business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92807"/>
            <a:ext cx="502920" cy="38404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9280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1892807"/>
            <a:ext cx="10789920" cy="3840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943607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Vision 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943607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Plateforme end-to-end 6-12 mois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14014"/>
            <a:ext cx="502920" cy="38404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41401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2414014"/>
            <a:ext cx="10789920" cy="3840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246481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Périmètre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46481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4 parcours, 45 User Stories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35221"/>
            <a:ext cx="502920" cy="38404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935221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2935221"/>
            <a:ext cx="10789920" cy="3840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298602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Avancement développement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986021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37/45 US livrées, 82 % du MVP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56428"/>
            <a:ext cx="502920" cy="38404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45642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456428"/>
            <a:ext cx="10789920" cy="3840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5072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KPIs &amp; mesures de succès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50722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Cibles chiffrées par domaine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977635"/>
            <a:ext cx="502920" cy="38404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977635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3977635"/>
            <a:ext cx="10789920" cy="3840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028435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Architecture macro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4028435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Stack, composants, intégrations SI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498842"/>
            <a:ext cx="502920" cy="38404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49884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4498842"/>
            <a:ext cx="10789920" cy="384048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54964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Roadmap &amp; prochaines étapes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54964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Jalons, risques, décisions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020049"/>
            <a:ext cx="502920" cy="384048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02004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" y="5020049"/>
            <a:ext cx="10789920" cy="38404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" y="507084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Annexes Métier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5070849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Détail des 4 parcours, hypothèses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541256"/>
            <a:ext cx="502920" cy="384048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54125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" y="5541256"/>
            <a:ext cx="10789920" cy="384048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" y="55920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Annexes Techniques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559205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78"/>
                </a:solidFill>
                <a:latin typeface="Calibri"/>
              </a:rPr>
              <a:t>C4, Bounded Contexts, ADR, NFR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Sommaire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Ce qu'il faut retenir en 3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794760" cy="4846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🔴 Le problème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11680"/>
            <a:ext cx="35204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4884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Dès qu'un livreur quitte le dépôt, il sort du système d'information.
→ Pilotage 100 % téléphonique
→ Preuves papier, litiges non traceables
→ Affectation tournées sur tableur sans SI
→ Double saisie OMS, 0 temps réel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417320"/>
            <a:ext cx="3794760" cy="484632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5087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🎯 Notre réponse — DocuPost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19" y="2011680"/>
            <a:ext cx="35204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19" y="214884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Plateforme end-to-end qui connecte livreur, superviseur et SI en temps réel :
→ App mobile Android (livreur) — statut colis en &lt; 45 s
→ Interface web supervision — alertes &amp; instructions temps réel
→ Interface planification — affectation tournées sans papier
→ API REST → OMS en &lt; 30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417320"/>
            <a:ext cx="3794760" cy="4846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8" y="15087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📊 Avancement MVP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58" y="2011680"/>
            <a:ext cx="35204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8" y="2148840"/>
            <a:ext cx="3520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37 User Stories livrées sur 45 (82 %)
Branche feature/US-001 — tests en cours
→ Parcours 0 (Planification) : 100 % codé
→ Parcours 1 (Livreur) : 100 % codé
→ Parcours 2 (Supervision) : 100 % codé
→ Parcours 3 (SI) : 100 % codé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Executive Summary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Problématique — Rupture structurelle du SI livraison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4 acteurs impactés · Entretiens terrain 2026-03-19/20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834640" cy="4572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447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Livreur (Pierre)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283464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3911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Tournée sur papier, erreurs, illisibilité terrain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449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Aucune vision du reste à livrer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4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05079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Motifs non-livraison non différenciés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8348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05663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Téléphone personnel, sans traçabilité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17320"/>
            <a:ext cx="28346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447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Responsable logistique (M. Renaud)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874519"/>
            <a:ext cx="283464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196596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03911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Affectation tournées sur tableur hors 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297180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0449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Vérification composition 100 % manuelle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397764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05079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Aucune détection conflit livreur/véhicule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98348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505663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Pilotage en cours de journée 100 % téléphonique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417320"/>
            <a:ext cx="28346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4447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DSI / Support (Mme Dubois)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874519"/>
            <a:ext cx="283464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96596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03911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Preuves de livraison non immédiatement dispo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97180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0449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Double saisie manuelle = erreurs + retard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97764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05079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Litiges difficiles à instruire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98348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505663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Audits réglementaires fragiles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1417320"/>
            <a:ext cx="2834640" cy="45720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14447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Architecte SI (M. Garnier)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1874519"/>
            <a:ext cx="283464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1160" y="196596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203911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Rupture flux SI dès départ livreur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297180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30449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Désynchronisation OMS/CRM/ERP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397764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405079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Ajouts urgents colis non poussés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4983480"/>
            <a:ext cx="2651760" cy="8686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505663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Référentiel adresse non exposé terrain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96188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❝ Dès qu'un livreur quitte le dépôt, il sort du système d'information de l'entreprise. ❞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1 — Problématique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Vision cible — Plateforme DocuPost (6–12 mois)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Cycle de vie complet de la tournée : du dépôt à la clôture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743200" cy="3840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DÉPÔT 6h00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56032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Import TMS
Affectation
Lancement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2743200" cy="384048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TERRAIN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194560"/>
            <a:ext cx="256032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37744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App mobile
Statut colis
Preuves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45920"/>
            <a:ext cx="2743200" cy="3840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SUPERVISION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194560"/>
            <a:ext cx="256032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Tableau bord
Alertes
Instructions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645920"/>
            <a:ext cx="2743200" cy="3840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691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 DOCAPOSTE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2194560"/>
            <a:ext cx="256032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377440"/>
            <a:ext cx="2560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OMS temps réel
Audit immuable
SSO corporate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15000"/>
            <a:ext cx="11430000" cy="6400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   ✓ Preuves opposables &lt; 5 min    ✓ Préparation &lt; 30 min (vs. tableur)    ✓ Détection risque &lt; 15 min    ✓ Synchro OMS &lt; 30 s — 0 double saisie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2 — Vision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Périmètre MVP — 4 Parcours, 7 Epics, 45 User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Entonnoir de priorisation MoSCoW · Core Domain identifié par DDD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463040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Parcours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Resp. Logistique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17320"/>
            <a:ext cx="2286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691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Préparation TMS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7680960" cy="10515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  <a:latin typeface="Calibri"/>
              </a:rPr>
              <a:t>Import TMS · Vérification composition · Affectation livreur/véhicule · Lancement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0" y="1691640"/>
            <a:ext cx="64008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0" y="1691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06040"/>
            <a:ext cx="1463040" cy="105156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6517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Parcours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990088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Livreur (mobile)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606040"/>
            <a:ext cx="2286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880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C8"/>
                </a:solidFill>
                <a:latin typeface="Calibri"/>
              </a:rPr>
              <a:t>Exécution tournée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606040"/>
            <a:ext cx="7680960" cy="10515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8346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  <a:latin typeface="Calibri"/>
              </a:rPr>
              <a:t>Liste colis · Mise à jour statut · Preuve numérique · Offline-first · Instructions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0" y="2880360"/>
            <a:ext cx="64008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0" y="2880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94760"/>
            <a:ext cx="1463040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840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Parcours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178808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Superviseur (web)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3794760"/>
            <a:ext cx="2286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Pilotage temps réel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794760"/>
            <a:ext cx="7680960" cy="10515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402336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  <a:latin typeface="Calibri"/>
              </a:rPr>
              <a:t>Tableau de bord · Détail tournée · Alertes retard · Envoi d'instructions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0" y="4069080"/>
            <a:ext cx="64008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0" y="4069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983480"/>
            <a:ext cx="146304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029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Parcours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5367528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DSI / OMS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4983480"/>
            <a:ext cx="22860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257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Intégration 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983480"/>
            <a:ext cx="7680960" cy="10515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521208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  <a:latin typeface="Calibri"/>
              </a:rPr>
              <a:t>API REST → OMS &lt; 30 s · Événements immuables · SSO OAuth2 corporate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126480"/>
            <a:ext cx="11612880" cy="256032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1447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Hors MVP (R2/R3) : Routage automatique · Notification client SMS · Intégration CRM/ERP · iOS · Dispatch algorithmique · Portail client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3 — Périmètre MVP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Avancement Développement — 37 / 45 User Stories livrées (82 %)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Branche feature/US-001 · Tests unitaires + E2E Playwright en cours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93980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82 %  — 37 US livrées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50876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Calibri"/>
              </a:rPr>
              <a:t>8 US restantes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1143000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40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Périmètre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240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Stories couvertes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402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 livrées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2402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22402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33472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6974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Parcours 0 — Planification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697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  <a:latin typeface="Calibri"/>
              </a:rPr>
              <a:t>US-021 à US-024 + US-028–034–041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974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11/11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69748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100 %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82112"/>
            <a:ext cx="11430000" cy="50292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Parcours 1 — Livreur 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246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  <a:latin typeface="Calibri"/>
              </a:rPr>
              <a:t>US-001 à US-009 + UX 025–026–029–036–037–042–043–045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2461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14/14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2461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100 %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30752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79476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Parcours 2 — Supervision 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794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  <a:latin typeface="Calibri"/>
              </a:rPr>
              <a:t>US-011 à US-014 + 027–031–032–035–038–039–040–044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7947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12/12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7947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100 %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79392"/>
            <a:ext cx="11430000" cy="50292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3434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Parcours 3 — Intégration 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343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  <a:latin typeface="Calibri"/>
              </a:rPr>
              <a:t>US-010 + US-017 à US-020 + US-033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3434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7/7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3434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100 %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828032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8920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US techniques / Design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892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  <a:latin typeface="Calibri"/>
              </a:rPr>
              <a:t>US-025 à US-031 (design + composants)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8920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7/7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489204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100 %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376672"/>
            <a:ext cx="11430000" cy="50292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54406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US en attente (backlog)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5440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8"/>
                </a:solidFill>
                <a:latin typeface="Calibri"/>
              </a:rPr>
              <a:t>US-038 à US-045 (UX/polish/onboarding)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4406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  <a:latin typeface="Calibri"/>
              </a:rPr>
              <a:t>—/8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544068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  <a:latin typeface="Calibri"/>
              </a:rPr>
              <a:t>0 %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4 — Avancement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KPIs Cibles MVP — Mesures de succès à la mise en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Indicateurs issus des entretiens terrain · Baseline papier à établir avant déploiement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23774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Préparation
tournées matin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417320"/>
            <a:ext cx="2377440" cy="109728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 45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Statut colis
mis à jour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417320"/>
            <a:ext cx="237744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 15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Détection
tournée à risque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417320"/>
            <a:ext cx="23774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 30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Synchro
évenements OMS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1417320"/>
            <a:ext cx="2377440" cy="109728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− 70 %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Appels tél.
superviseur/livreur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788920"/>
            <a:ext cx="23774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− 90 %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3429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Erreurs
d'affectation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788920"/>
            <a:ext cx="237744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 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429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Preuve opposable
fournie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2788920"/>
            <a:ext cx="23774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429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Double saisie
résiduelle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2788920"/>
            <a:ext cx="2377440" cy="109728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&gt; 99 %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429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Synchro OMS
disponibilité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38360" y="2788920"/>
            <a:ext cx="2377440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&gt; 4/5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429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Satisfaction
livreur (eNPS)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5 — KPIs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 Macro — Stack Technique &amp; Composants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Java 21 / Spring Boot 4 · React 19 / React Native · Docker / Kubernetes · CI/CD GitHub 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200400" cy="128016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270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App Mobile Livreur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84708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React Native / TypeScript
iOS + Android · Expo
Offline-first · Camera/Sign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463040"/>
            <a:ext cx="3200400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5270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App Web Superviseur/Planif.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847088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React 19 / TypeScript 5.6
Tableau bord · Planification
WebSocket temps réel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463040"/>
            <a:ext cx="4572000" cy="128016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15270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Systèmes Externes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847088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TMS (import 6h00) · OMS (statuts) · SSO OAuth2
Google Maps · Firebase FCM (push)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08960"/>
            <a:ext cx="2286000" cy="100584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172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API Gateway / BFF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3493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Spring Boot 4
JWT · Rate limiting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108960"/>
            <a:ext cx="2286000" cy="100584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3172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svc-tournee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3493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BC-01 Core Domain
Orchestration · Colis ·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108960"/>
            <a:ext cx="2286000" cy="100584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5232" y="3172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svc-supervision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2" y="3493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BC-03 · BC-07
Supervision + Planification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108960"/>
            <a:ext cx="228600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317296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svc-preuve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493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BC-02 Supporting
Capture signature/photo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3108960"/>
            <a:ext cx="173736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22992" y="3172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svc-notif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349300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BC-05 Supporting
Push FCM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434840"/>
            <a:ext cx="36576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4498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Persistance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81888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PostgreSQL · Redis Cache
Event Store immuable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434840"/>
            <a:ext cx="36576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7952" y="4498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Messagerie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7952" y="481888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Kafka / RabbitMQ
Domain Events inter-BC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4434840"/>
            <a:ext cx="3657600" cy="100584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1" y="4498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431" y="481888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Docker · Kubernetes
GitHub Actions CI/CD · 4 envs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578"/>
                </a:solidFill>
                <a:latin typeface="Calibri"/>
              </a:rPr>
              <a:t>↕ REST/WS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6578"/>
                </a:solidFill>
                <a:latin typeface="Calibri"/>
              </a:rPr>
              <a:t>↕ REST/WS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6 — Architecture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Roadmap &amp; 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Jalons MVP · Risques · Décisions attendues du CODIR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103120" cy="3200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 FAIT
Av.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9202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37 US livrées
Tests unitaires
CI/CD en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6517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645920"/>
            <a:ext cx="2103120" cy="32004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737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◈ EN COURS
Av.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423160"/>
            <a:ext cx="19202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60604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8 US restantes
Tests E2E Playwright
Validation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6517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645920"/>
            <a:ext cx="2103120" cy="3200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737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⬜ MAI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423160"/>
            <a:ext cx="19202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60604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Recette métier
Baseline KPIs
Décision GO/NO-GO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26517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645920"/>
            <a:ext cx="21031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737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⬜ JUIN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2423160"/>
            <a:ext cx="19202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60604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Préprod
Pilote 3 livreurs
Mesure satisfaction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65176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645920"/>
            <a:ext cx="2103120" cy="320040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7373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⬜ SEPT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423160"/>
            <a:ext cx="192024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60604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Prod / Release 1
Release 2 planning
CRM / ERP scope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74920"/>
            <a:ext cx="548640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⚠ Risques clés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6811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H6 : API TMS non confirmée → import manuel fallback
H4 : SSO étendu livreurs → à valider DSI
H1 : Parc matériel Android → confirmer BYOD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074920"/>
            <a:ext cx="5669280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🎯 Décisions attendues du CODIR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468112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1. Confirmer GO pilote (juin 2026) — 3 livreurs terrain
2. Valider périmètre Release 2 (CRM/ERP, iOS, alertes SMS)
3. Arbitrer hypothèse H6 (API TMS ou import batch)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7 — Roadmap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ANNEXES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C4E8"/>
                </a:solidFill>
                <a:latin typeface="Calibri"/>
              </a:rPr>
              <a:t>Détail des 4 parcours · Hypothèses · KPIs complets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A1 — Parcours 0 : Préparation des Tournées (Interface Web)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Responsable logistique M. Renaud · Prérequis bloquant au Parcours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78892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27048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1. Import TMS
(cron 6h00)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2788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67712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Réception auto des tournées du jour depuis le TMS
→ US-021 : Visualiser le plan du jour
Domain Event : TournéeImportéeTMS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508760"/>
            <a:ext cx="278892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27048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2. Vérification
Composition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176272"/>
            <a:ext cx="2788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267712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Consultation détail : colis, zones, contraintes horaires
→ US-022 : Vérifier la composition d'une tournée
Domain Event : CompositionVérifiée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278892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27048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3. Affectation
Livreur/Véhicule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76272"/>
            <a:ext cx="2788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267712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Association livreur disponible + véhicule, détection conflits
→ US-023 · US-030 (compatibilité véhicule) · US-034 (suggestion)
Domain Event : AffectationEnregistrée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508760"/>
            <a:ext cx="278892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527048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4. Validation
&amp; Lancement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2176272"/>
            <a:ext cx="2788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2267712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Envoi tournée vers l'app mobile du livreur
→ US-024 : Lancer une tournée
Domain Event : TournéeLancée → BC-01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09160"/>
            <a:ext cx="1161288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736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KPIs Parcours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102352"/>
            <a:ext cx="23774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19379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 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74243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Préparation
complète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102352"/>
            <a:ext cx="23774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519379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74243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Affectation
avant départ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102352"/>
            <a:ext cx="23774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519379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− 90 %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74243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Erreurs vs
baseline papier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5102352"/>
            <a:ext cx="237744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519379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&gt; 95 %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74243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Import TMS
auto (H6)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Métier  |  A1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A2 — Parcours 1 : Exécution de Tournée (App Mobile)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Livreur Pierre · 80–120 colis/jour · Android · Offline-first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657600" cy="50292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Prise en main
tournée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36576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Consultation liste colis
affectés pour la journée
→ US-001, US-002, US-003
→ US-004 (détail colis)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08760"/>
            <a:ext cx="3657600" cy="50292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Livraison
colis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011680"/>
            <a:ext cx="36576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031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Mise à jour statut
&lt; 45 secondes
→ US-001 (confirmer)
→ US-029 (swipe rapide)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3657600" cy="50292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Échec
livraison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011680"/>
            <a:ext cx="36576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031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Motif normalisé :
absent / accès / refus /
horaires → US-005
US-038 (harmonisation)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3657600" cy="50292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Preuve
numérique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97680"/>
            <a:ext cx="36576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891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Signature / photo / tiers
US-008, US-009
Opposable juridiquement
US-010 (accès preuve)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94760"/>
            <a:ext cx="3657600" cy="50292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Offline &amp;
Instructions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297680"/>
            <a:ext cx="36576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43891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Sync différée zone blanche
→ US-006
Bandeau instruction push
→ US-016, US-037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50292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Clôture
tournée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297680"/>
            <a:ext cx="36576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3891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Indicateur progression
→ US-002
Clôture tournée
→ US-007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Métier  |  A2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A3 — Parcours 2 : Supervision &amp; Pilotage Temps Réel (Web)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Superviseur / Responsable exploitation M. Renaud · Interface web · WebSocket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78892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2704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Tableau de bord
des tournées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2788920" cy="27432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Vue agrégée toutes tournées du jour
Statut avancement temps réel
→ US-011
→ US-035 (recherche multi-critères)
→ US-039 (export CSV)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08760"/>
            <a:ext cx="278892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2704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Détail tournée
&amp; colis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03120"/>
            <a:ext cx="2788920" cy="27432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19456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Statuts colis par tournée
Incidents, localisation livreur
→ US-012
US-032 (synchro read model)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278892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2704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Alertes
automatiques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788920" cy="27432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Détection retard &lt; 15 min
Alertes proactives
→ US-013
US-044 (indicateur déco WS)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508760"/>
            <a:ext cx="278892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52704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Envoi d'instructions
au livreur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103120"/>
            <a:ext cx="2788920" cy="27432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194560"/>
            <a:ext cx="2606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Prioriser · Annuler · Reprogrammer
→ US-014 (envoi instruction)
→ US-015 (suivi exécution)
→ US-016 (notification push)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74920"/>
            <a:ext cx="116128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102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KPIs Parcours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86400"/>
            <a:ext cx="237744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577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 15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126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Détection
tournée risque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5486400"/>
            <a:ext cx="237744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5577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− 70 %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6126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Appels tél.
superviseur/livreur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486400"/>
            <a:ext cx="237744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5577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&lt; 10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6126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Traitement
incident terrain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Métier  |  A3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A4 — Parcours 3 : Intégration 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OMS · SSO Corporate · Événements immuables · API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788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2704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Synchronisation OMS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39112"/>
            <a:ext cx="27889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30552"/>
            <a:ext cx="2606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US-017 : Chaque statut colis → événement normalisé vers OMS
API REST &lt; 30 secondes
Taux cible : &gt; 99 %
US-018 : Historisation immuable (Event Store)
Attributs : livreur · action · horodatage · géolocalisation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08760"/>
            <a:ext cx="2788920" cy="50292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2704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Authentification SSO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039112"/>
            <a:ext cx="27889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130552"/>
            <a:ext cx="2606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US-019 : SSO mobile (OAuth2 JWT)
US-020 : SSO web (OAuth2 JWT)
SSO corporate Docaposte — aucun compte local
H4 à valider : couverture SSO vers livreurs terrain
US-036/043 : card SSO rétractable première connexion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27889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2704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Offline &amp; Résilience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39112"/>
            <a:ext cx="27889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30552"/>
            <a:ext cx="2606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US-006 : Mode offline-first React Native
File d'attente locale → sync au retour réseau
Zone blanche : événements rejoués &gt; 99 %
US-044 : Indicateur durée déconnexion WebSocket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508760"/>
            <a:ext cx="27889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52704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Event Store immuable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039112"/>
            <a:ext cx="27889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130552"/>
            <a:ext cx="2606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US-018 : Chaque événement append-only
Contient : qui · quoi · quand · géoloc
US-033 : Simulateur TMS pour tests bout en bout
Audit réglementaire · litiges · SLA contractuels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Métier  |  A4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A5 — Hypothèses &amp; Risques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6 hypothèses à valider avant Go-Live · Criticité identifiée lors des entretiens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64008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508760"/>
            <a:ext cx="32461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Parc matériel
Android BYOD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7772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011680"/>
            <a:ext cx="3246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031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Les livreurs ont un smartphone Android (fourni ou BYOD)
Action : confirmer avec DSI et RH avant déploiement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508760"/>
            <a:ext cx="640080" cy="192024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39" y="1508760"/>
            <a:ext cx="32461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API OMS
disponible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19" y="1508760"/>
            <a:ext cx="7772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9" y="16002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Haut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39" y="2011680"/>
            <a:ext cx="3246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79" y="21031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L'OMS expose une API REST sans modification de son cœur
Action : obtenir doc API OMS · valider avec M. Garnier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8" y="1508760"/>
            <a:ext cx="64008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2011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78" y="1508760"/>
            <a:ext cx="32461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398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Motifs non-livraison
complets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338558" y="1508760"/>
            <a:ext cx="7772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58" y="16002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Faible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78" y="2011680"/>
            <a:ext cx="3246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18" y="210312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Les 4 motifs couvrent 90 % des cas terrain réels
Action : valider avec Pierre sur échantillon tournées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611880"/>
            <a:ext cx="64008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611880"/>
            <a:ext cx="32461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SSO étendu
aux livreurs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3611880"/>
            <a:ext cx="7772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370332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Haut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114800"/>
            <a:ext cx="3246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20624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Le SSO corporate peut couvrir les comptes livreurs
Action : confirmation DSI avant architecture auth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3611880"/>
            <a:ext cx="64008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59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39" y="3611880"/>
            <a:ext cx="32461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59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Connectivité
mobile suffisante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19" y="3611880"/>
            <a:ext cx="7772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19" y="370332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Moyen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39" y="4114800"/>
            <a:ext cx="3246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83479" y="420624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Réseau mobile suffisant sur les zones de tournée
Action : cartographier zones blanches · stratégie offline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598" y="3611880"/>
            <a:ext cx="64008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598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78" y="3611880"/>
            <a:ext cx="324612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15398" y="3657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API TMS
disponible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338558" y="3611880"/>
            <a:ext cx="7772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38558" y="370332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Haut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78" y="4114800"/>
            <a:ext cx="324612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18" y="420624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Le TMS expose une API REST ou batch pour import auto
Action : obtenir doc TMS · fallback : import manuel CSV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Métier  |  A5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ANNEXES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8C4E8"/>
                </a:solidFill>
                <a:latin typeface="Calibri"/>
              </a:rPr>
              <a:t>Architecture C4 · Bounded Contexts DDD · Stack &amp; ADR · Exigences NFR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  |  T0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T1 — Vue C4 Contexte : DocuPost dans l'écosystème 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4 utilisateurs · 5 systèmes externes · Intégrations REST/OAuth2/Push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645920" cy="64008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Livreur
(Pierre)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6FC8"/>
                </a:solidFill>
                <a:latin typeface="Calibri"/>
              </a:rPr>
              <a:t>→→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164592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0175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Superviseur
(M. Renaud)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B2A4A"/>
                </a:solidFill>
                <a:latin typeface="Calibri"/>
              </a:rPr>
              <a:t>→→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164592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4805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Resp. Logistique
(M. Renaud)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7E22"/>
                </a:solidFill>
                <a:latin typeface="Calibri"/>
              </a:rPr>
              <a:t>→→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669280"/>
            <a:ext cx="1645920" cy="64008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7607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DSI / Support
(Mme Dubois)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852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6578"/>
                </a:solidFill>
                <a:latin typeface="Calibri"/>
              </a:rPr>
              <a:t>→→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194560"/>
            <a:ext cx="4572000" cy="2834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286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DocuPost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8346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C4E8"/>
                </a:solidFill>
                <a:latin typeface="Calibri"/>
              </a:rPr>
              <a:t>App Mobile (React Native)
App Web Supervision/Planif. (React)
API Backend (Spring Boot 4 / Java 21)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371600"/>
            <a:ext cx="237744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3990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OMS Docaposte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7647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Référentiel colis
API REST ← statuts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600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7AE60"/>
                </a:solidFill>
                <a:latin typeface="Calibri"/>
              </a:rPr>
              <a:t>←→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468880"/>
            <a:ext cx="237744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4963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TMS Externe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862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Import tournées
cron 6h00 (H6)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697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67E22"/>
                </a:solidFill>
                <a:latin typeface="Calibri"/>
              </a:rPr>
              <a:t>←→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566160"/>
            <a:ext cx="2377440" cy="77724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3593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SSO Corporate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593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OAuth2 / OIDC
Tokens JWT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794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6FC8"/>
                </a:solidFill>
                <a:latin typeface="Calibri"/>
              </a:rPr>
              <a:t>←→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663440"/>
            <a:ext cx="2377440" cy="77724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4690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Google Maps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0566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Navigation
Géocodage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8920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6578"/>
                </a:solidFill>
                <a:latin typeface="Calibri"/>
              </a:rPr>
              <a:t>←→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5760720"/>
            <a:ext cx="2377440" cy="77724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578815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Firebase FCM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61539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Push notifications
livreur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989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6578"/>
                </a:solidFill>
                <a:latin typeface="Calibri"/>
              </a:rPr>
              <a:t>←→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Techniques  |  T1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T2 — Bounded Contexts &amp; Classification DDD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7 Bounded Contexts · 2 Core Domains · 3 Supporting · 4 Generic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7432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0280" y="1463040"/>
            <a:ext cx="73152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90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BC-01 — Orchestration
de Tournée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5087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8308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84708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Service : svc-tournee
Cœur différenciateur. Tournée, Colis, Incident.
Gère l'état en temps réel, publie Domain Events.
Aggregats : Tournée, Colis · Value Objects : StatutColis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463040"/>
            <a:ext cx="274320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463040"/>
            <a:ext cx="73152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490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BC-07 — Planification
de Tournée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5087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78308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184708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Service : svc-supervision
Prérequis bloquant. PlanDuJour, AffectationTournée.
Import TMS, validation composition, lancement.
Publie TournéeLancée → BC-01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463040"/>
            <a:ext cx="2743200" cy="32004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463040"/>
            <a:ext cx="73152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90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BC-03 — Supervision
Temps Réel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5087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78308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184708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Service : svc-supervision
Tableau de bord, alertes, instructions livreur.
Lit le Read Model (projection BC-01).
WebSocket pour push temps réel vers l'UI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463040"/>
            <a:ext cx="27432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55680" y="146304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4904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BC-02 — Gestion
des Preuves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15087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178308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2" y="184708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Service : svc-preuve
Capture signature, photo, tiers.
Opposabilité juridique, stockage objet.
Lié à BC-01 via Domain Event LivraisonConfirmée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794760"/>
            <a:ext cx="27432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40280" y="3794760"/>
            <a:ext cx="73152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8221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BC-05 — Notification
&amp; Messaging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8404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1148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17880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Service : svc-notif
Push Firebase FCM vers app mobile.
Instructions superviseur → livreur.
Pattern Event-Driven via Kafka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3794760"/>
            <a:ext cx="2743200" cy="32004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12080" y="3794760"/>
            <a:ext cx="731520" cy="32004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38221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BC-06 — Authentification
SSO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38404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GENERIC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41148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73552" y="417880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Service : sso-adapter
OAuth2 / OIDC corporate Docaposte.
Aucune conception spécifique requise.
Solution off-the-shelf imposée DSI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794760"/>
            <a:ext cx="2743200" cy="32004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80" y="3794760"/>
            <a:ext cx="731520" cy="320040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82219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BC-08 — Intégration
OMS / TMS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38404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GENERIC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1148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417880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A4A"/>
                </a:solidFill>
                <a:latin typeface="Calibri"/>
              </a:rPr>
              <a:t>Service : acl-adapter
Anti-Corruption Layer entrée TMS et sortie OMS.
Traduction événements DocuPost → format OMS.
Aucune logique métier ici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Techniques  |  T2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T3 — Stack Technique &amp; Architecture Decision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Stack imposée DSI (M. Garnier) + décisions architecturales documentées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41148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Stack Technique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2801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848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391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Java 21 · Spring Boot 4.0.3
API REST · PostgreSQL · Kafka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70048"/>
            <a:ext cx="12801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743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React Native + TypeScript
Expo · iOS + Android · Offline-first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74136"/>
            <a:ext cx="12801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93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472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React 19 + TypeScript 5.6
WebSocket · Material 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78224"/>
            <a:ext cx="12801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9709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Infra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5137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Docker · Kubernetes
GitHub Actions CI/CD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82312"/>
            <a:ext cx="12801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9011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85546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OAuth2 / SSO corporate
JWT Bearer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86400"/>
            <a:ext cx="1280160" cy="5943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6052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5595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Logs structurés · Prometheus
Grafana (à configurer)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463040"/>
            <a:ext cx="731520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149047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ADRs — Architecture Decision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920240"/>
            <a:ext cx="73152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19933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FC8"/>
                </a:solidFill>
                <a:latin typeface="Calibri"/>
              </a:rPr>
              <a:t>DD-001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19476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React Native (vs Kotlin/Jetpack)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2194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8"/>
                </a:solidFill>
                <a:latin typeface="Calibri"/>
              </a:rPr>
              <a:t>Unification JS/TS mobile+web · iOS+Android · partage de code hooks et logique métier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542032"/>
            <a:ext cx="7315200" cy="57607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261518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FC8"/>
                </a:solidFill>
                <a:latin typeface="Calibri"/>
              </a:rPr>
              <a:t>DD-002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569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Offline-first Redux + sync queue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8163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8"/>
                </a:solidFill>
                <a:latin typeface="Calibri"/>
              </a:rPr>
              <a:t>Stratégie offline pour zones blanches · événements en file locale → rejoués au réseau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3163824"/>
            <a:ext cx="73152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323697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FC8"/>
                </a:solidFill>
                <a:latin typeface="Calibri"/>
              </a:rPr>
              <a:t>DD-003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1912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Architecture microservices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34381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8"/>
                </a:solidFill>
                <a:latin typeface="Calibri"/>
              </a:rPr>
              <a:t>Isolation BC par service · déploiement indépendant · scalabilité ciblée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785616"/>
            <a:ext cx="7315200" cy="57607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385876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FC8"/>
                </a:solidFill>
                <a:latin typeface="Calibri"/>
              </a:rPr>
              <a:t>DD-004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3813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Event Store immuable (append-only)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05993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8"/>
                </a:solidFill>
                <a:latin typeface="Calibri"/>
              </a:rPr>
              <a:t>Opposabilité juridique · audit réglementaire · rejeu d'événements · CQRS compatible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4407408"/>
            <a:ext cx="73152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4480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FC8"/>
                </a:solidFill>
                <a:latin typeface="Calibri"/>
              </a:rPr>
              <a:t>DD-009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Monorepo front unifié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6817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8"/>
                </a:solidFill>
                <a:latin typeface="Calibri"/>
              </a:rPr>
              <a:t>shared/ hooks + types entre mobile et web · un seul CI pipeline · cohérence design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029200"/>
            <a:ext cx="7315200" cy="57607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510235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FC8"/>
                </a:solidFill>
                <a:latin typeface="Calibri"/>
              </a:rPr>
              <a:t>DD-010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5056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Import TMS : API REST pull + fallback batch CSV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5303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8"/>
                </a:solidFill>
                <a:latin typeface="Calibri"/>
              </a:rPr>
              <a:t>Cron 6h00 · si API indispo → import fichier manuel · alerte 6h45 si non reçu (H6)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5650992"/>
            <a:ext cx="73152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572414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FC8"/>
                </a:solidFill>
                <a:latin typeface="Calibri"/>
              </a:rPr>
              <a:t>DD-011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6784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Fenêtre planification matinale 6h00–6h45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592531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8"/>
                </a:solidFill>
                <a:latin typeface="Calibri"/>
              </a:rPr>
              <a:t>Contrainte opérationnelle M. Renaud · alertes automatiques si tournées non affectées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Techniques  |  T3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Annexe T4 — Exigences Non-Fonctionnelles (NFR)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C4E8"/>
                </a:solidFill>
                <a:latin typeface="Calibri"/>
              </a:rPr>
              <a:t>Performance · Disponibilité · Sécurité · Conformité · Scalabilité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49039" cy="438912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Statut colis mis à jour en &lt; 45 s (UX terrain)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591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Synchronisation OMS &lt; 30 s après événement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523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Chargement tableau bord superviseur &lt; 3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455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Import TMS 6h00 terminé avant 6h45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749039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5087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Disponibilité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01952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965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App mobile livreur &gt; 99,5 % (plages tournée)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23591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Interface web superviseur &gt; 99 % (7h–20h ouvrés)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27523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Offline-first : 0 blocage en zone blanche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31455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Événements non transmis rejoués &gt; 99 %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8" y="1463040"/>
            <a:ext cx="3749039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8" y="150876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8" y="1901952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8" y="1965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OAuth2 / SSO corporate obligatoire (imposé DSI)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8" y="23591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JWT Bearer tokens · HTTPS/TLS sur tous les flux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8" y="27523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Données géolocalisation chiffrées au repos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8" y="31455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Consentement RGPD documenté pour géoloc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94760"/>
            <a:ext cx="3749039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8404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Conformité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33672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Événements immuables : audit réglementaire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6908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Preuves opposables disponibles &lt; 5 min (litiges)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08406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Complétude 100 % : qui · quoi · quand · géoloc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47725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Rétention données conforme politique Docaposte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794760"/>
            <a:ext cx="3749039" cy="438912"/>
          </a:xfrm>
          <a:prstGeom prst="rect">
            <a:avLst/>
          </a:prstGeom>
          <a:solidFill>
            <a:srgbClr val="556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59" y="384048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Scalabilité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4233672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399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Microservices : scaling indépendant par BC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399" y="46908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Kubernetes HPA sur svc-tournee (pointe 7h–9h)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399" y="508406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PostgreSQL + Read Model séparé (CQRS)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399" y="547725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▸  Kafka : découplage inter-services asynchrone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8CC"/>
                </a:solidFill>
                <a:latin typeface="Calibri"/>
              </a:rPr>
              <a:t>DocuPost — CODIR DSI — État des lieux MVP — Avril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510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A8CC"/>
                </a:solidFill>
                <a:latin typeface="Calibri"/>
              </a:rPr>
              <a:t>Annexes Techniques  |  T4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508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Questions &amp; Échanges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8C4E8"/>
                </a:solidFill>
                <a:latin typeface="Calibri"/>
              </a:rPr>
              <a:t>DocuPost — CODIR DSI — Avril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Livrables disponibles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5943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E8"/>
                </a:solidFill>
                <a:latin typeface="Calibri"/>
              </a:rPr>
              <a:t>▸ Vision &amp; KPIs : /livrables/01-vision/
▸ Architecture métier : /livrables/03-architecture-metier/
▸ Architecture technique : /livrables/04-architecture-technique/
▸ Backlog (45 US) : /livrables/05-backlog/user-stories/
▸ Implémentations (37 VS) : /livrables/06-dev/vertical-slices/
▸ Tests &amp; scénarios : /livrables/07-tests/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74903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Prochaines décisions CODIR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1605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E8"/>
                </a:solidFill>
                <a:latin typeface="Calibri"/>
              </a:rPr>
              <a:t>1. GO pilote livreurs (juin 2026)
2. Validation H4 : SSO étendu livreurs
3. Arbitrage H6 : API TMS ou batch CSV
4. Périmètre Release 2 (CRM · ERP · iOS · SMS)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